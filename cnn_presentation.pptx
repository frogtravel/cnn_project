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Quattrocen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4R5OwMO+lIplsRpxaW5NJFv4q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QuattrocentoSans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QuattrocentoSans-italic.fntdata"/><Relationship Id="rId6" Type="http://schemas.openxmlformats.org/officeDocument/2006/relationships/slide" Target="slides/slide2.xml"/><Relationship Id="rId18" Type="http://schemas.openxmlformats.org/officeDocument/2006/relationships/font" Target="fonts/Quattrocento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Accuracy (%)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0A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Custom CNN
(scratch)</c:v>
                  </c:pt>
                  <c:pt idx="1">
                    <c:v>MobileNetV2
(frozen)</c:v>
                  </c:pt>
                  <c:pt idx="2">
                    <c:v>InceptionV3
(frozen)</c:v>
                  </c:pt>
                  <c:pt idx="3">
                    <c:v>ResNet50
Phase 1</c:v>
                  </c:pt>
                  <c:pt idx="4">
                    <c:v>ResNet50
Phase 2</c:v>
                  </c:pt>
                  <c:pt idx="5">
                    <c:v>ResNet50
+Aug+LR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64.5</c:v>
                </c:pt>
                <c:pt idx="1">
                  <c:v>85.5</c:v>
                </c:pt>
                <c:pt idx="2">
                  <c:v>86.4</c:v>
                </c:pt>
                <c:pt idx="3">
                  <c:v>86.77</c:v>
                </c:pt>
                <c:pt idx="4">
                  <c:v>89.61</c:v>
                </c:pt>
                <c:pt idx="5">
                  <c:v>90.31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5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0"/>
            <a:ext cx="2286000" cy="1280160"/>
          </a:xfrm>
          <a:prstGeom prst="rect">
            <a:avLst/>
          </a:prstGeom>
          <a:solidFill>
            <a:srgbClr val="0D8A82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498080" y="3657600"/>
            <a:ext cx="1645920" cy="1485900"/>
          </a:xfrm>
          <a:prstGeom prst="rect">
            <a:avLst/>
          </a:prstGeom>
          <a:solidFill>
            <a:srgbClr val="0D8A82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822960"/>
            <a:ext cx="8046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Classification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60020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B5AA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16B5AA"/>
                </a:solidFill>
                <a:latin typeface="Calibri"/>
                <a:ea typeface="Calibri"/>
                <a:cs typeface="Calibri"/>
                <a:sym typeface="Calibri"/>
              </a:rPr>
              <a:t>with CNN &amp; Transfer Learning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514600"/>
            <a:ext cx="3200400" cy="5486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57200" y="26974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CIFAR-10 Dataset  ·  TensorFlow / PyTorch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3337560"/>
            <a:ext cx="1920240" cy="109728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9050">
            <a:solidFill>
              <a:srgbClr val="0D8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57200" y="340156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57200" y="39319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606040" y="3337560"/>
            <a:ext cx="1920240" cy="109728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9050">
            <a:solidFill>
              <a:srgbClr val="0D8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606040" y="340156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606040" y="39319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754880" y="3337560"/>
            <a:ext cx="1920240" cy="109728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9050">
            <a:solidFill>
              <a:srgbClr val="0D8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4754880" y="340156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90.3%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754880" y="39319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Best Acc.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903720" y="3337560"/>
            <a:ext cx="1920240" cy="109728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9050">
            <a:solidFill>
              <a:srgbClr val="0D8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6903720" y="340156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903720" y="39319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Project Overview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20040" y="100584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20040" y="1005840"/>
            <a:ext cx="3840480" cy="411480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11480" y="10241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CIFAR-10 Dataset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1572768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8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8A82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60,000 color images (32 × 32 px)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2103120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8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8A82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 classes · 6,000 images each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2633472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8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8A82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50,000 training / 10,000 test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7200" y="3163824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8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8A82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Classes: airplane, automobile, bird,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cat, deer, dog, frog, horse,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ship, truck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" y="3694176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8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8A82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Automatically downloaded via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tf.keras.datasets.cifar10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0" y="1005840"/>
            <a:ext cx="42519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572000" y="1005840"/>
            <a:ext cx="425196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663440" y="1024128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Notebooks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709160" y="1572768"/>
            <a:ext cx="54864" cy="777240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864608" y="157276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onsolas"/>
                <a:ea typeface="Consolas"/>
                <a:cs typeface="Consolas"/>
                <a:sym typeface="Consolas"/>
              </a:rPr>
              <a:t>cnn_transfer_learning.ipynb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864608" y="19202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Baseline CNN + MobileNetV2,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InceptionV3, ResNet50 fine-tuning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709160" y="2624328"/>
            <a:ext cx="54864" cy="777240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864608" y="26243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onsolas"/>
                <a:ea typeface="Consolas"/>
                <a:cs typeface="Consolas"/>
                <a:sym typeface="Consolas"/>
              </a:rPr>
              <a:t>cnn_transfer_data_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onsolas"/>
                <a:ea typeface="Consolas"/>
                <a:cs typeface="Consolas"/>
                <a:sym typeface="Consolas"/>
              </a:rPr>
              <a:t>augmentation.ipynb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864608" y="297180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ResNet50 with advanced augmentation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&amp; LR scheduler — best result 90.3%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709160" y="3675888"/>
            <a:ext cx="54864" cy="777240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864608" y="367588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onsolas"/>
                <a:ea typeface="Consolas"/>
                <a:cs typeface="Consolas"/>
                <a:sym typeface="Consolas"/>
              </a:rPr>
              <a:t>test.ipynb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864608" y="40233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PyTorch reimplementation with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GPU-cached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Framework: TensorFlow / Keras  ·  PyTorch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CNN — Built from Scratch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20040" y="960120"/>
            <a:ext cx="5303520" cy="388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57200" y="1024128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Architecture  (315,722 parameters)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65760" y="1417320"/>
            <a:ext cx="2514600" cy="31089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11480" y="143560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2880360" y="1417320"/>
            <a:ext cx="1691640" cy="31089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2926080" y="143560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Shape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572000" y="1417320"/>
            <a:ext cx="868680" cy="31089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4617720" y="143560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65760" y="1764792"/>
            <a:ext cx="5074920" cy="29260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11480" y="180136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Conv2D (32, 3×3, ReLU)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926080" y="180136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(None, 30, 30, 32)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617720" y="180136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896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65760" y="2084832"/>
            <a:ext cx="5074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11480" y="212140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MaxPooling2D (2×2)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926080" y="212140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(None, 15, 15, 32)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617720" y="212140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65760" y="2404872"/>
            <a:ext cx="5074920" cy="29260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411480" y="244144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Conv2D (64, 3×3, ReLU)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926080" y="244144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(None, 13, 13, 64)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617720" y="244144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18,496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65760" y="2724912"/>
            <a:ext cx="5074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11480" y="276148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MaxPooling2D (2×2)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926080" y="276148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(None, 6, 6, 64)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617720" y="27614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65760" y="3044952"/>
            <a:ext cx="5074920" cy="29260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11480" y="308152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Flatten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926080" y="308152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(None, 2304)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617720" y="308152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65760" y="3364992"/>
            <a:ext cx="5074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11480" y="340156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Dense (128, ReLU)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926080" y="340156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(None, 128)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617720" y="340156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295,040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65760" y="3685032"/>
            <a:ext cx="5074920" cy="29260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11480" y="372160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Dense (10, Softmax)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926080" y="372160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(None, 10)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617720" y="372160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1,290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65760" y="4041648"/>
            <a:ext cx="5074920" cy="658368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475488" y="406908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Training 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75488" y="432511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Optimizer: 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Adam  · 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Loss: 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Sparse Cat. CE  · 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Early Stopping: 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patience=3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852160" y="960120"/>
            <a:ext cx="301752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5852160" y="960120"/>
            <a:ext cx="3017520" cy="411480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5943600" y="978408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852160" y="146304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64.5%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852160" y="235915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943600" y="2761488"/>
            <a:ext cx="2788920" cy="38404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035040" y="28163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7360920" y="281635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64.43%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943600" y="3218688"/>
            <a:ext cx="2788920" cy="38404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6035040" y="32735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7360920" y="327355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64.50%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5943600" y="3675888"/>
            <a:ext cx="2788920" cy="38404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6035040" y="37307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F1 Score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7360920" y="373075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64.04%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897880" y="4224528"/>
            <a:ext cx="2880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Overfitting from epoch 7 (train ~81%, val ~64.5%)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 Learning: MobileNetV2 &amp; InceptionV3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20040" y="914400"/>
            <a:ext cx="8503920" cy="640080"/>
          </a:xfrm>
          <a:prstGeom prst="rect">
            <a:avLst/>
          </a:prstGeom>
          <a:solidFill>
            <a:srgbClr val="0D8A82">
              <a:alpha val="14901"/>
            </a:srgbClr>
          </a:solidFill>
          <a:ln cap="flat" cmpd="sng" w="12700">
            <a:solidFill>
              <a:srgbClr val="0D8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57200" y="96012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Approach: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Frozen backbone (ImageNet weights) + custom head  ·  </a:t>
            </a:r>
            <a:r>
              <a:rPr b="1" i="0" lang="en-US" sz="12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Head: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Dense(128, ReLU) → Dropout(0.2) → Dense(10, Softmax)  ·  </a:t>
            </a:r>
            <a:r>
              <a:rPr b="1" i="0" lang="en-US" sz="12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Input: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224×224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20040" y="1691640"/>
            <a:ext cx="416052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320040" y="1691640"/>
            <a:ext cx="416052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29768" y="170992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MobileNetV2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246120" y="173736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B5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B5AA"/>
                </a:solidFill>
                <a:latin typeface="Calibri"/>
                <a:ea typeface="Calibri"/>
                <a:cs typeface="Calibri"/>
                <a:sym typeface="Calibri"/>
              </a:rPr>
              <a:t>~3.4M params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29768" y="21488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TF Hub  tf2-preview/mobilenet_v2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29768" y="248716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Validation Accuracy by Epoch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29768" y="2807208"/>
            <a:ext cx="3840480" cy="33832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521208" y="284378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Epoch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2788920" y="284378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82.97%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29768" y="3182112"/>
            <a:ext cx="3840480" cy="33832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21208" y="321868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Epoch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2788920" y="321868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84.78%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29768" y="3557016"/>
            <a:ext cx="3840480" cy="33832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521208" y="359359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Epoch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2788920" y="359359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85.47%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29768" y="3931920"/>
            <a:ext cx="3840480" cy="338328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521208" y="396849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Epoch Best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2788920" y="396849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~85.5%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29768" y="437083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+21 pp gain over baseline with frozen backbone only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709160" y="1691640"/>
            <a:ext cx="416052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4709160" y="1691640"/>
            <a:ext cx="416052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818888" y="170992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InceptionV3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7635240" y="173736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B5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B5AA"/>
                </a:solidFill>
                <a:latin typeface="Calibri"/>
                <a:ea typeface="Calibri"/>
                <a:cs typeface="Calibri"/>
                <a:sym typeface="Calibri"/>
              </a:rPr>
              <a:t>~21.8M params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818888" y="21488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TF Hub  imagenet/inception_v3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4818888" y="248716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Validation Accuracy by Epoch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4818888" y="2807208"/>
            <a:ext cx="3840480" cy="33832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4910328" y="284378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Epoch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7178040" y="284378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84.74%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4818888" y="3182112"/>
            <a:ext cx="3840480" cy="33832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4910328" y="321868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Epoch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7178040" y="321868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86.06%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4818888" y="3557016"/>
            <a:ext cx="3840480" cy="33832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4910328" y="359359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Epoch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7178040" y="359359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86.15%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4818888" y="3931920"/>
            <a:ext cx="3840480" cy="338328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4910328" y="396849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Epoch Best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7178040" y="396849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~86.4%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4818888" y="437083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Slightly higher accuracy; heavier model, longer per-epoch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ResNet50 — Two-Phase Fine-Tuning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320040" y="914400"/>
            <a:ext cx="8503920" cy="594360"/>
          </a:xfrm>
          <a:prstGeom prst="rect">
            <a:avLst/>
          </a:prstGeom>
          <a:solidFill>
            <a:srgbClr val="1A2B4A">
              <a:alpha val="10196"/>
            </a:srgbClr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Architecture: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ResNet50 (ImageNet) + GlobalAvgPool → Dense(128, ReLU) → Dropout(0.2) → Dense(10, Softmax)  ·  Input: 96×96  ·  23.85M params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20040" y="1645920"/>
            <a:ext cx="411480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320040" y="1645920"/>
            <a:ext cx="4114800" cy="411480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438912" y="1664208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 — Head Training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57200" y="212140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 frozen  ·  LR: 1e-3  ·  Trainable: 263K params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57200" y="248716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Epoch-by-epoch: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57200" y="2788920"/>
            <a:ext cx="3749040" cy="24688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548640" y="28072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2560320" y="280720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84.43%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457200" y="3063240"/>
            <a:ext cx="3749040" cy="24688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548640" y="3081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2560320" y="308152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85.75%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457200" y="3337560"/>
            <a:ext cx="3749040" cy="24688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548640" y="33558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2560320" y="335584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86.02%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457200" y="3611880"/>
            <a:ext cx="3749040" cy="24688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548640" y="36301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2560320" y="363016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86.38%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457200" y="3886200"/>
            <a:ext cx="3749040" cy="246888"/>
          </a:xfrm>
          <a:prstGeom prst="rect">
            <a:avLst/>
          </a:prstGeom>
          <a:solidFill>
            <a:srgbClr val="E6F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548640" y="390448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8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8A82"/>
                </a:solidFill>
                <a:latin typeface="Calibri"/>
                <a:ea typeface="Calibri"/>
                <a:cs typeface="Calibri"/>
                <a:sym typeface="Calibri"/>
              </a:rPr>
              <a:t>Ep 5 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2560320" y="39044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8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8A82"/>
                </a:solidFill>
                <a:latin typeface="Calibri"/>
                <a:ea typeface="Calibri"/>
                <a:cs typeface="Calibri"/>
                <a:sym typeface="Calibri"/>
              </a:rPr>
              <a:t>86.77%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57200" y="4160520"/>
            <a:ext cx="3749040" cy="24688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548640" y="41788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 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2560320" y="417880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86.41%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457200" y="4434840"/>
            <a:ext cx="3749040" cy="24688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548640" y="44531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 7 (stop)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2560320" y="445312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86.44%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4709160" y="1645920"/>
            <a:ext cx="411480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4709160" y="1645920"/>
            <a:ext cx="411480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4828032" y="1664208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 — Fine-Tuning (Top 30 Layers)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4828032" y="2121408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 30 ResNet layers unfrozen  ·  LR: 1e-5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4828032" y="248716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Epoch-by-epoch: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4828032" y="2788920"/>
            <a:ext cx="3749040" cy="265176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4919472" y="281635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6949440" y="281635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87.60%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4828032" y="3090672"/>
            <a:ext cx="3749040" cy="265176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4919472" y="311810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6949440" y="3118104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88.51%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4828032" y="3392424"/>
            <a:ext cx="3749040" cy="265176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4919472" y="341985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6949440" y="3419856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89.08%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4828032" y="3694176"/>
            <a:ext cx="3749040" cy="265176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4919472" y="37216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6949440" y="372160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89.32%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4828032" y="3995928"/>
            <a:ext cx="3749040" cy="265176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4919472" y="40233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 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6949440" y="402336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89.53%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4828032" y="4297680"/>
            <a:ext cx="3749040" cy="26517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4919472" y="43251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Ep 6 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6949440" y="432511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89.61%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4828032" y="457200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Low LR (1e-5) preserves pretrained features while adapting to CIFAR-10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ResNet50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164592" y="987552"/>
            <a:ext cx="594360" cy="157276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164592" y="118872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164592" y="1700784"/>
            <a:ext cx="594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96×96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718621" y="1499585"/>
            <a:ext cx="18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941832" y="987552"/>
            <a:ext cx="822960" cy="15727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941832" y="118872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+Pool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941832" y="1700784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48×48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64 filt.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1723575" y="1499587"/>
            <a:ext cx="18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1947672" y="987552"/>
            <a:ext cx="914400" cy="15727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1947672" y="11887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1947672" y="1700784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×3 blocks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256 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2820916" y="1499622"/>
            <a:ext cx="18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3044952" y="987552"/>
            <a:ext cx="914400" cy="157276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3044952" y="11887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3044952" y="1700784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×4 blocks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512 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3902671" y="1499622"/>
            <a:ext cx="18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4142232" y="987552"/>
            <a:ext cx="914400" cy="1572768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4142232" y="11887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4142232" y="1700784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×6 blocks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1024 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5032864" y="1499597"/>
            <a:ext cx="18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5239512" y="987552"/>
            <a:ext cx="914400" cy="1572768"/>
          </a:xfrm>
          <a:prstGeom prst="rect">
            <a:avLst/>
          </a:prstGeom>
          <a:solidFill>
            <a:srgbClr val="0D6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5239512" y="11887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5239512" y="1700784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×3 blocks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2048 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6102681" y="1499622"/>
            <a:ext cx="18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6336792" y="987552"/>
            <a:ext cx="566928" cy="157276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6336792" y="1188720"/>
            <a:ext cx="5669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6336792" y="1700784"/>
            <a:ext cx="5669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2048-d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6912864" y="1490472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7050024" y="896112"/>
            <a:ext cx="1737360" cy="1755648"/>
          </a:xfrm>
          <a:prstGeom prst="rect">
            <a:avLst/>
          </a:prstGeom>
          <a:solidFill>
            <a:srgbClr val="FFFFFF"/>
          </a:solidFill>
          <a:ln cap="flat" cmpd="sng" w="317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7050024" y="854962"/>
            <a:ext cx="1737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Custom Head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7086600" y="1060704"/>
            <a:ext cx="1664208" cy="438912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7086600" y="1124712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Dense(128)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7086625" y="1275594"/>
            <a:ext cx="1664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ReLU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7086600" y="1554480"/>
            <a:ext cx="1664208" cy="438912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6"/>
          <p:cNvSpPr/>
          <p:nvPr/>
        </p:nvSpPr>
        <p:spPr>
          <a:xfrm>
            <a:off x="7086600" y="1618488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Dropout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7104900" y="1764795"/>
            <a:ext cx="1664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7086600" y="2048256"/>
            <a:ext cx="1664208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7086600" y="2112264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Dense(10)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7086625" y="2290646"/>
            <a:ext cx="1664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Softmax → CIFAR-10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228600" y="2816352"/>
            <a:ext cx="3474720" cy="21214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228600" y="2816352"/>
            <a:ext cx="347472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"/>
          <p:cNvSpPr/>
          <p:nvPr/>
        </p:nvSpPr>
        <p:spPr>
          <a:xfrm>
            <a:off x="320040" y="286207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Inside a Bottleneck Block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457200" y="327355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x  (input)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457200" y="3593592"/>
            <a:ext cx="192024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512064" y="3639312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 1×1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1408176" y="363931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reduce channels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457200" y="3995928"/>
            <a:ext cx="1920240" cy="32918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6"/>
          <p:cNvSpPr/>
          <p:nvPr/>
        </p:nvSpPr>
        <p:spPr>
          <a:xfrm>
            <a:off x="512064" y="404164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 3×3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1408176" y="404164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spatial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457200" y="4398264"/>
            <a:ext cx="1920240" cy="329184"/>
          </a:xfrm>
          <a:prstGeom prst="rect">
            <a:avLst/>
          </a:prstGeom>
          <a:solidFill>
            <a:srgbClr val="0D6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6"/>
          <p:cNvSpPr/>
          <p:nvPr/>
        </p:nvSpPr>
        <p:spPr>
          <a:xfrm>
            <a:off x="512064" y="4443984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 1×1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1408176" y="4443984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expand channels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457200" y="469087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⊕  Add + ReLU  →  x + F(x)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2468880" y="3273552"/>
            <a:ext cx="54864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6"/>
          <p:cNvSpPr/>
          <p:nvPr/>
        </p:nvSpPr>
        <p:spPr>
          <a:xfrm>
            <a:off x="2542032" y="368503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Skip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3977640" y="2816352"/>
            <a:ext cx="4937760" cy="21214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3977640" y="2816352"/>
            <a:ext cx="4937760" cy="347472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4087368" y="2862072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Facts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142232" y="329184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Total layers: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5788152" y="329184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175  (50 weight layers + BN + activations)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4142232" y="3621024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Parameters: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5788152" y="362102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23,851,274  (~91 MB total)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4142232" y="395020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Pretrained on: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5788152" y="395020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ImageNet — 1.2M images, 1,000 classes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4142232" y="4279392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Custom head: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5788152" y="427939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263,562 trainable params  (~1 MB)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4142232" y="4608576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Input resolution: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5788152" y="460857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96×96 px  (upscaled from 32×32 CIFAR-10)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Two-Phase Training: What Gets Unfrozen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4480560" y="841248"/>
            <a:ext cx="45720" cy="4297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7"/>
          <p:cNvSpPr/>
          <p:nvPr/>
        </p:nvSpPr>
        <p:spPr>
          <a:xfrm>
            <a:off x="182880" y="859536"/>
            <a:ext cx="4160520" cy="457200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274320" y="877824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 — Head Training 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182880" y="1389888"/>
            <a:ext cx="4160520" cy="3749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182880" y="1389888"/>
            <a:ext cx="64008" cy="37490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292608" y="1453896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603504" y="1426464"/>
            <a:ext cx="3666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Conv1 + MaxPool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603504" y="1609344"/>
            <a:ext cx="3666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layers  ·  64 filters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182880" y="1796796"/>
            <a:ext cx="4160520" cy="3749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7"/>
          <p:cNvSpPr/>
          <p:nvPr/>
        </p:nvSpPr>
        <p:spPr>
          <a:xfrm>
            <a:off x="182880" y="1796796"/>
            <a:ext cx="64008" cy="37490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292608" y="1860804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603504" y="1833372"/>
            <a:ext cx="3666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Stage 1  (conv2_x)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603504" y="2016252"/>
            <a:ext cx="3666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×3 bottleneck blocks  ·  256 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182880" y="2203704"/>
            <a:ext cx="4160520" cy="3749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>
            <a:off x="182880" y="2203704"/>
            <a:ext cx="64008" cy="37490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"/>
          <p:cNvSpPr/>
          <p:nvPr/>
        </p:nvSpPr>
        <p:spPr>
          <a:xfrm>
            <a:off x="292608" y="2267712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603504" y="2240280"/>
            <a:ext cx="3666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Stage 2  (conv3_x)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603504" y="2423160"/>
            <a:ext cx="3666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×4 bottleneck blocks  ·  512 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182880" y="2610612"/>
            <a:ext cx="4160520" cy="3749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7"/>
          <p:cNvSpPr/>
          <p:nvPr/>
        </p:nvSpPr>
        <p:spPr>
          <a:xfrm>
            <a:off x="182880" y="2610612"/>
            <a:ext cx="64008" cy="37490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7"/>
          <p:cNvSpPr/>
          <p:nvPr/>
        </p:nvSpPr>
        <p:spPr>
          <a:xfrm>
            <a:off x="292608" y="2674620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603504" y="2647188"/>
            <a:ext cx="3666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Stage 3  (conv4_x)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603504" y="2830068"/>
            <a:ext cx="3666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×6 bottleneck blocks  ·  1024 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182880" y="3017520"/>
            <a:ext cx="4160520" cy="3749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7"/>
          <p:cNvSpPr/>
          <p:nvPr/>
        </p:nvSpPr>
        <p:spPr>
          <a:xfrm>
            <a:off x="182880" y="3017520"/>
            <a:ext cx="64008" cy="37490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7"/>
          <p:cNvSpPr/>
          <p:nvPr/>
        </p:nvSpPr>
        <p:spPr>
          <a:xfrm>
            <a:off x="292608" y="308152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603504" y="3054096"/>
            <a:ext cx="3666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Stage 4  (conv5_x)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603504" y="3236976"/>
            <a:ext cx="3666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×3 bottleneck blocks  ·  2048 ch  — FROZEN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182880" y="3396996"/>
            <a:ext cx="416052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7"/>
          <p:cNvSpPr/>
          <p:nvPr/>
        </p:nvSpPr>
        <p:spPr>
          <a:xfrm>
            <a:off x="182880" y="3424428"/>
            <a:ext cx="4160520" cy="37490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7"/>
          <p:cNvSpPr/>
          <p:nvPr/>
        </p:nvSpPr>
        <p:spPr>
          <a:xfrm>
            <a:off x="182880" y="3424428"/>
            <a:ext cx="64008" cy="374904"/>
          </a:xfrm>
          <a:prstGeom prst="rect">
            <a:avLst/>
          </a:prstGeom>
          <a:solidFill>
            <a:srgbClr val="0A78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7"/>
          <p:cNvSpPr/>
          <p:nvPr/>
        </p:nvSpPr>
        <p:spPr>
          <a:xfrm>
            <a:off x="292608" y="3488436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603504" y="3461004"/>
            <a:ext cx="3666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Avg Pool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603504" y="3643884"/>
            <a:ext cx="3666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FAF7"/>
                </a:solidFill>
                <a:latin typeface="Calibri"/>
                <a:ea typeface="Calibri"/>
                <a:cs typeface="Calibri"/>
                <a:sym typeface="Calibri"/>
              </a:rPr>
              <a:t>Output: 2048-d feature vector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182880" y="3831336"/>
            <a:ext cx="4160520" cy="37490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7"/>
          <p:cNvSpPr/>
          <p:nvPr/>
        </p:nvSpPr>
        <p:spPr>
          <a:xfrm>
            <a:off x="182880" y="3831336"/>
            <a:ext cx="64008" cy="374904"/>
          </a:xfrm>
          <a:prstGeom prst="rect">
            <a:avLst/>
          </a:prstGeom>
          <a:solidFill>
            <a:srgbClr val="0A78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7"/>
          <p:cNvSpPr/>
          <p:nvPr/>
        </p:nvSpPr>
        <p:spPr>
          <a:xfrm>
            <a:off x="292608" y="3895344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603504" y="3867912"/>
            <a:ext cx="3666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Dense(128, ReLU)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603504" y="4050792"/>
            <a:ext cx="3666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FAF7"/>
                </a:solidFill>
                <a:latin typeface="Calibri"/>
                <a:ea typeface="Calibri"/>
                <a:cs typeface="Calibri"/>
                <a:sym typeface="Calibri"/>
              </a:rPr>
              <a:t>New classifier layer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182880" y="4238244"/>
            <a:ext cx="4160520" cy="37490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7"/>
          <p:cNvSpPr/>
          <p:nvPr/>
        </p:nvSpPr>
        <p:spPr>
          <a:xfrm>
            <a:off x="182880" y="4238244"/>
            <a:ext cx="64008" cy="374904"/>
          </a:xfrm>
          <a:prstGeom prst="rect">
            <a:avLst/>
          </a:prstGeom>
          <a:solidFill>
            <a:srgbClr val="0A78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7"/>
          <p:cNvSpPr/>
          <p:nvPr/>
        </p:nvSpPr>
        <p:spPr>
          <a:xfrm>
            <a:off x="292608" y="4302252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603504" y="4274820"/>
            <a:ext cx="3666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Dropout(0.2)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603504" y="4457700"/>
            <a:ext cx="3666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FAF7"/>
                </a:solidFill>
                <a:latin typeface="Calibri"/>
                <a:ea typeface="Calibri"/>
                <a:cs typeface="Calibri"/>
                <a:sym typeface="Calibri"/>
              </a:rPr>
              <a:t>Regularization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182880" y="4645152"/>
            <a:ext cx="4160520" cy="37490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7"/>
          <p:cNvSpPr/>
          <p:nvPr/>
        </p:nvSpPr>
        <p:spPr>
          <a:xfrm>
            <a:off x="182880" y="4645152"/>
            <a:ext cx="64008" cy="374904"/>
          </a:xfrm>
          <a:prstGeom prst="rect">
            <a:avLst/>
          </a:prstGeom>
          <a:solidFill>
            <a:srgbClr val="0A78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7"/>
          <p:cNvSpPr/>
          <p:nvPr/>
        </p:nvSpPr>
        <p:spPr>
          <a:xfrm>
            <a:off x="292608" y="4709160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603504" y="4681728"/>
            <a:ext cx="3666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Dense(10, Softmax)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603504" y="4864608"/>
            <a:ext cx="3666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FAF7"/>
                </a:solidFill>
                <a:latin typeface="Calibri"/>
                <a:ea typeface="Calibri"/>
                <a:cs typeface="Calibri"/>
                <a:sym typeface="Calibri"/>
              </a:rPr>
              <a:t>Output: airplane … truck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4663440" y="859536"/>
            <a:ext cx="429768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7"/>
          <p:cNvSpPr/>
          <p:nvPr/>
        </p:nvSpPr>
        <p:spPr>
          <a:xfrm>
            <a:off x="4754880" y="877824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 — Fine-Tuning  (top 30 layers)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4663440" y="1389888"/>
            <a:ext cx="4297680" cy="3749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7"/>
          <p:cNvSpPr/>
          <p:nvPr/>
        </p:nvSpPr>
        <p:spPr>
          <a:xfrm>
            <a:off x="4663440" y="1389888"/>
            <a:ext cx="64008" cy="37490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4773168" y="1453896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5084064" y="1426464"/>
            <a:ext cx="3803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Conv1 + MaxPool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5084064" y="1609344"/>
            <a:ext cx="38039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layers  ·  64 filters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4663440" y="1796796"/>
            <a:ext cx="4297680" cy="3749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7"/>
          <p:cNvSpPr/>
          <p:nvPr/>
        </p:nvSpPr>
        <p:spPr>
          <a:xfrm>
            <a:off x="4663440" y="1796796"/>
            <a:ext cx="64008" cy="37490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7"/>
          <p:cNvSpPr/>
          <p:nvPr/>
        </p:nvSpPr>
        <p:spPr>
          <a:xfrm>
            <a:off x="4773168" y="1860804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5084064" y="1833372"/>
            <a:ext cx="3803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Stage 1  (conv2_x)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5084064" y="2016252"/>
            <a:ext cx="38039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×3 bottleneck blocks  ·  256 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4663440" y="2203704"/>
            <a:ext cx="4297680" cy="3749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7"/>
          <p:cNvSpPr/>
          <p:nvPr/>
        </p:nvSpPr>
        <p:spPr>
          <a:xfrm>
            <a:off x="4663440" y="2203704"/>
            <a:ext cx="64008" cy="37490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7"/>
          <p:cNvSpPr/>
          <p:nvPr/>
        </p:nvSpPr>
        <p:spPr>
          <a:xfrm>
            <a:off x="4773168" y="2267712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5084064" y="2240280"/>
            <a:ext cx="3803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Stage 2  (conv3_x)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5084064" y="2423160"/>
            <a:ext cx="38039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×4 bottleneck blocks  ·  512 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4663440" y="2610612"/>
            <a:ext cx="4297680" cy="3749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7"/>
          <p:cNvSpPr/>
          <p:nvPr/>
        </p:nvSpPr>
        <p:spPr>
          <a:xfrm>
            <a:off x="4663440" y="2610612"/>
            <a:ext cx="64008" cy="37490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7"/>
          <p:cNvSpPr/>
          <p:nvPr/>
        </p:nvSpPr>
        <p:spPr>
          <a:xfrm>
            <a:off x="4773168" y="2674620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5084064" y="2647188"/>
            <a:ext cx="3803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Stage 3  (conv4_x)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5084064" y="2830068"/>
            <a:ext cx="38039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×6 bottleneck blocks  ·  1024 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4663440" y="3017520"/>
            <a:ext cx="4297680" cy="374904"/>
          </a:xfrm>
          <a:prstGeom prst="rect">
            <a:avLst/>
          </a:prstGeom>
          <a:solidFill>
            <a:srgbClr val="0A8A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7"/>
          <p:cNvSpPr/>
          <p:nvPr/>
        </p:nvSpPr>
        <p:spPr>
          <a:xfrm>
            <a:off x="4663440" y="3017520"/>
            <a:ext cx="64008" cy="374904"/>
          </a:xfrm>
          <a:prstGeom prst="rect">
            <a:avLst/>
          </a:prstGeom>
          <a:solidFill>
            <a:srgbClr val="076B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7"/>
          <p:cNvSpPr/>
          <p:nvPr/>
        </p:nvSpPr>
        <p:spPr>
          <a:xfrm>
            <a:off x="4773168" y="308152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5084064" y="3054096"/>
            <a:ext cx="3803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4  (conv5_x)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5084064" y="3236976"/>
            <a:ext cx="38039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FAF7"/>
                </a:solidFill>
                <a:latin typeface="Calibri"/>
                <a:ea typeface="Calibri"/>
                <a:cs typeface="Calibri"/>
                <a:sym typeface="Calibri"/>
              </a:rPr>
              <a:t>×3 bottleneck blocks  ·  2048 ch  — UNFROZEN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4663440" y="3396996"/>
            <a:ext cx="429768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7"/>
          <p:cNvSpPr/>
          <p:nvPr/>
        </p:nvSpPr>
        <p:spPr>
          <a:xfrm>
            <a:off x="4663440" y="3424428"/>
            <a:ext cx="4297680" cy="37490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7"/>
          <p:cNvSpPr/>
          <p:nvPr/>
        </p:nvSpPr>
        <p:spPr>
          <a:xfrm>
            <a:off x="4663440" y="3424428"/>
            <a:ext cx="64008" cy="374904"/>
          </a:xfrm>
          <a:prstGeom prst="rect">
            <a:avLst/>
          </a:prstGeom>
          <a:solidFill>
            <a:srgbClr val="0A78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7"/>
          <p:cNvSpPr/>
          <p:nvPr/>
        </p:nvSpPr>
        <p:spPr>
          <a:xfrm>
            <a:off x="4773168" y="3488436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5084064" y="3461004"/>
            <a:ext cx="3803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Avg Pool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7"/>
          <p:cNvSpPr/>
          <p:nvPr/>
        </p:nvSpPr>
        <p:spPr>
          <a:xfrm>
            <a:off x="5084064" y="3643884"/>
            <a:ext cx="38039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FAF7"/>
                </a:solidFill>
                <a:latin typeface="Calibri"/>
                <a:ea typeface="Calibri"/>
                <a:cs typeface="Calibri"/>
                <a:sym typeface="Calibri"/>
              </a:rPr>
              <a:t>Output: 2048-d feature vector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4663440" y="3831336"/>
            <a:ext cx="4297680" cy="37490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7"/>
          <p:cNvSpPr/>
          <p:nvPr/>
        </p:nvSpPr>
        <p:spPr>
          <a:xfrm>
            <a:off x="4663440" y="3831336"/>
            <a:ext cx="64008" cy="374904"/>
          </a:xfrm>
          <a:prstGeom prst="rect">
            <a:avLst/>
          </a:prstGeom>
          <a:solidFill>
            <a:srgbClr val="0A78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7"/>
          <p:cNvSpPr/>
          <p:nvPr/>
        </p:nvSpPr>
        <p:spPr>
          <a:xfrm>
            <a:off x="4773168" y="3895344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5084064" y="3867912"/>
            <a:ext cx="3803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Dense(128, ReLU)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5084064" y="4050792"/>
            <a:ext cx="38039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FAF7"/>
                </a:solidFill>
                <a:latin typeface="Calibri"/>
                <a:ea typeface="Calibri"/>
                <a:cs typeface="Calibri"/>
                <a:sym typeface="Calibri"/>
              </a:rPr>
              <a:t>New classifier layer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4663440" y="4238244"/>
            <a:ext cx="4297680" cy="37490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7"/>
          <p:cNvSpPr/>
          <p:nvPr/>
        </p:nvSpPr>
        <p:spPr>
          <a:xfrm>
            <a:off x="4663440" y="4238244"/>
            <a:ext cx="64008" cy="374904"/>
          </a:xfrm>
          <a:prstGeom prst="rect">
            <a:avLst/>
          </a:prstGeom>
          <a:solidFill>
            <a:srgbClr val="0A78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7"/>
          <p:cNvSpPr/>
          <p:nvPr/>
        </p:nvSpPr>
        <p:spPr>
          <a:xfrm>
            <a:off x="4773168" y="4302252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5084064" y="4274820"/>
            <a:ext cx="3803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Dropout(0.2)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5084064" y="4457700"/>
            <a:ext cx="38039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FAF7"/>
                </a:solidFill>
                <a:latin typeface="Calibri"/>
                <a:ea typeface="Calibri"/>
                <a:cs typeface="Calibri"/>
                <a:sym typeface="Calibri"/>
              </a:rPr>
              <a:t>Regularization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7"/>
          <p:cNvSpPr/>
          <p:nvPr/>
        </p:nvSpPr>
        <p:spPr>
          <a:xfrm>
            <a:off x="4663440" y="4645152"/>
            <a:ext cx="4297680" cy="37490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7"/>
          <p:cNvSpPr/>
          <p:nvPr/>
        </p:nvSpPr>
        <p:spPr>
          <a:xfrm>
            <a:off x="4663440" y="4645152"/>
            <a:ext cx="64008" cy="374904"/>
          </a:xfrm>
          <a:prstGeom prst="rect">
            <a:avLst/>
          </a:prstGeom>
          <a:solidFill>
            <a:srgbClr val="0A78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7"/>
          <p:cNvSpPr/>
          <p:nvPr/>
        </p:nvSpPr>
        <p:spPr>
          <a:xfrm>
            <a:off x="4773168" y="4709160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5084064" y="4681728"/>
            <a:ext cx="3803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Dense(10, Softmax)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7"/>
          <p:cNvSpPr/>
          <p:nvPr/>
        </p:nvSpPr>
        <p:spPr>
          <a:xfrm>
            <a:off x="5084064" y="4864608"/>
            <a:ext cx="38039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FAF7"/>
                </a:solidFill>
                <a:latin typeface="Calibri"/>
                <a:ea typeface="Calibri"/>
                <a:cs typeface="Calibri"/>
                <a:sym typeface="Calibri"/>
              </a:rPr>
              <a:t>Output: airplane … truck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3657600" y="4882896"/>
            <a:ext cx="219456" cy="14630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7"/>
          <p:cNvSpPr/>
          <p:nvPr/>
        </p:nvSpPr>
        <p:spPr>
          <a:xfrm>
            <a:off x="6400800" y="4882896"/>
            <a:ext cx="219456" cy="146304"/>
          </a:xfrm>
          <a:prstGeom prst="rect">
            <a:avLst/>
          </a:prstGeom>
          <a:solidFill>
            <a:srgbClr val="0A8A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8"/>
          <p:cNvSpPr/>
          <p:nvPr/>
        </p:nvSpPr>
        <p:spPr>
          <a:xfrm>
            <a:off x="6720840" y="91440"/>
            <a:ext cx="201168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8"/>
          <p:cNvSpPr/>
          <p:nvPr/>
        </p:nvSpPr>
        <p:spPr>
          <a:xfrm>
            <a:off x="6720840" y="109728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★ Best Result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365760" y="73152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ResNet50 + Augmentation + LR Scheduler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8"/>
          <p:cNvSpPr/>
          <p:nvPr/>
        </p:nvSpPr>
        <p:spPr>
          <a:xfrm>
            <a:off x="320040" y="914400"/>
            <a:ext cx="393192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8"/>
          <p:cNvSpPr/>
          <p:nvPr/>
        </p:nvSpPr>
        <p:spPr>
          <a:xfrm>
            <a:off x="320040" y="914400"/>
            <a:ext cx="3931920" cy="411480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8"/>
          <p:cNvSpPr/>
          <p:nvPr/>
        </p:nvSpPr>
        <p:spPr>
          <a:xfrm>
            <a:off x="438912" y="93268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Augmentation Pipeline (6 techniques)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8"/>
          <p:cNvSpPr/>
          <p:nvPr/>
        </p:nvSpPr>
        <p:spPr>
          <a:xfrm>
            <a:off x="438912" y="1426464"/>
            <a:ext cx="54864" cy="42062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8"/>
          <p:cNvSpPr/>
          <p:nvPr/>
        </p:nvSpPr>
        <p:spPr>
          <a:xfrm>
            <a:off x="594360" y="144475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Random Horizontal Flip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8"/>
          <p:cNvSpPr/>
          <p:nvPr/>
        </p:nvSpPr>
        <p:spPr>
          <a:xfrm>
            <a:off x="594360" y="1664208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50% probability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8"/>
          <p:cNvSpPr/>
          <p:nvPr/>
        </p:nvSpPr>
        <p:spPr>
          <a:xfrm>
            <a:off x="438912" y="1975104"/>
            <a:ext cx="54864" cy="42062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8"/>
          <p:cNvSpPr/>
          <p:nvPr/>
        </p:nvSpPr>
        <p:spPr>
          <a:xfrm>
            <a:off x="594360" y="199339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Random Rotation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8"/>
          <p:cNvSpPr/>
          <p:nvPr/>
        </p:nvSpPr>
        <p:spPr>
          <a:xfrm>
            <a:off x="594360" y="2212848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±15°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8"/>
          <p:cNvSpPr/>
          <p:nvPr/>
        </p:nvSpPr>
        <p:spPr>
          <a:xfrm>
            <a:off x="438912" y="2523744"/>
            <a:ext cx="54864" cy="42062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8"/>
          <p:cNvSpPr/>
          <p:nvPr/>
        </p:nvSpPr>
        <p:spPr>
          <a:xfrm>
            <a:off x="594360" y="254203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Random Zoom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8"/>
          <p:cNvSpPr/>
          <p:nvPr/>
        </p:nvSpPr>
        <p:spPr>
          <a:xfrm>
            <a:off x="594360" y="2761488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±10%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8"/>
          <p:cNvSpPr/>
          <p:nvPr/>
        </p:nvSpPr>
        <p:spPr>
          <a:xfrm>
            <a:off x="438912" y="3072384"/>
            <a:ext cx="54864" cy="42062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8"/>
          <p:cNvSpPr/>
          <p:nvPr/>
        </p:nvSpPr>
        <p:spPr>
          <a:xfrm>
            <a:off x="594360" y="309067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Random Translation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594360" y="3310128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±10% H &amp; 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8"/>
          <p:cNvSpPr/>
          <p:nvPr/>
        </p:nvSpPr>
        <p:spPr>
          <a:xfrm>
            <a:off x="438912" y="3621024"/>
            <a:ext cx="54864" cy="42062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8"/>
          <p:cNvSpPr/>
          <p:nvPr/>
        </p:nvSpPr>
        <p:spPr>
          <a:xfrm>
            <a:off x="594360" y="363931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Random Contrast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8"/>
          <p:cNvSpPr/>
          <p:nvPr/>
        </p:nvSpPr>
        <p:spPr>
          <a:xfrm>
            <a:off x="594360" y="3858768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±20%  ← new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438912" y="4169664"/>
            <a:ext cx="54864" cy="420624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8"/>
          <p:cNvSpPr/>
          <p:nvPr/>
        </p:nvSpPr>
        <p:spPr>
          <a:xfrm>
            <a:off x="594360" y="418795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Random Brightness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8"/>
          <p:cNvSpPr/>
          <p:nvPr/>
        </p:nvSpPr>
        <p:spPr>
          <a:xfrm>
            <a:off x="594360" y="4407408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±20%  ← new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8"/>
          <p:cNvSpPr/>
          <p:nvPr/>
        </p:nvSpPr>
        <p:spPr>
          <a:xfrm>
            <a:off x="438912" y="4617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8A8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0D8A82"/>
                </a:solidFill>
                <a:latin typeface="Calibri"/>
                <a:ea typeface="Calibri"/>
                <a:cs typeface="Calibri"/>
                <a:sym typeface="Calibri"/>
              </a:rPr>
              <a:t>✓ Applied before resize &amp; normalize (correct order)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8"/>
          <p:cNvSpPr/>
          <p:nvPr/>
        </p:nvSpPr>
        <p:spPr>
          <a:xfrm>
            <a:off x="4480560" y="914400"/>
            <a:ext cx="434340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8"/>
          <p:cNvSpPr/>
          <p:nvPr/>
        </p:nvSpPr>
        <p:spPr>
          <a:xfrm>
            <a:off x="4480560" y="914400"/>
            <a:ext cx="434340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8"/>
          <p:cNvSpPr/>
          <p:nvPr/>
        </p:nvSpPr>
        <p:spPr>
          <a:xfrm>
            <a:off x="4590288" y="93268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 Strategy &amp; LR Schedule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8"/>
          <p:cNvSpPr/>
          <p:nvPr/>
        </p:nvSpPr>
        <p:spPr>
          <a:xfrm>
            <a:off x="4617720" y="1417320"/>
            <a:ext cx="4069080" cy="960120"/>
          </a:xfrm>
          <a:prstGeom prst="rect">
            <a:avLst/>
          </a:prstGeom>
          <a:solidFill>
            <a:srgbClr val="EFF8F7"/>
          </a:solidFill>
          <a:ln cap="flat" cmpd="sng" w="12700">
            <a:solidFill>
              <a:srgbClr val="0D8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8"/>
          <p:cNvSpPr/>
          <p:nvPr/>
        </p:nvSpPr>
        <p:spPr>
          <a:xfrm>
            <a:off x="4709160" y="1444752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8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8A82"/>
                </a:solidFill>
                <a:latin typeface="Calibri"/>
                <a:ea typeface="Calibri"/>
                <a:cs typeface="Calibri"/>
                <a:sym typeface="Calibri"/>
              </a:rPr>
              <a:t>Phase 1 — Head on clean data  (no augmentation)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8"/>
          <p:cNvSpPr/>
          <p:nvPr/>
        </p:nvSpPr>
        <p:spPr>
          <a:xfrm>
            <a:off x="4709160" y="1737360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Max 15 epochs · Patience 5 · LR 1e-3 · Best val acc: ~86.9%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8"/>
          <p:cNvSpPr/>
          <p:nvPr/>
        </p:nvSpPr>
        <p:spPr>
          <a:xfrm>
            <a:off x="4617720" y="2432304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  then fine-tune on augmented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4617720" y="2743200"/>
            <a:ext cx="4069080" cy="1920240"/>
          </a:xfrm>
          <a:prstGeom prst="rect">
            <a:avLst/>
          </a:prstGeom>
          <a:solidFill>
            <a:srgbClr val="F0F2F8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8"/>
          <p:cNvSpPr/>
          <p:nvPr/>
        </p:nvSpPr>
        <p:spPr>
          <a:xfrm>
            <a:off x="4709160" y="2770632"/>
            <a:ext cx="3886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Phase 2 — Fine-tune (top 30 layers) + LR scheduler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4709160" y="3127248"/>
            <a:ext cx="3886200" cy="38404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8"/>
          <p:cNvSpPr/>
          <p:nvPr/>
        </p:nvSpPr>
        <p:spPr>
          <a:xfrm>
            <a:off x="4800600" y="318211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A2B4A"/>
                </a:solidFill>
                <a:latin typeface="Consolas"/>
                <a:ea typeface="Consolas"/>
                <a:cs typeface="Consolas"/>
                <a:sym typeface="Consolas"/>
              </a:rPr>
              <a:t>1e-5  (ep 1–23)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6812280" y="318211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84.9% → 89.9%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4709160" y="3584448"/>
            <a:ext cx="3886200" cy="38404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8"/>
          <p:cNvSpPr/>
          <p:nvPr/>
        </p:nvSpPr>
        <p:spPr>
          <a:xfrm>
            <a:off x="4800600" y="363931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A2B4A"/>
                </a:solidFill>
                <a:latin typeface="Consolas"/>
                <a:ea typeface="Consolas"/>
                <a:cs typeface="Consolas"/>
                <a:sym typeface="Consolas"/>
              </a:rPr>
              <a:t>5e-6  (ep 24–31)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6812280" y="363931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90.1% → 90.3%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4709160" y="4041648"/>
            <a:ext cx="3886200" cy="384048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8"/>
          <p:cNvSpPr/>
          <p:nvPr/>
        </p:nvSpPr>
        <p:spPr>
          <a:xfrm>
            <a:off x="4800600" y="409651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A2B4A"/>
                </a:solidFill>
                <a:latin typeface="Consolas"/>
                <a:ea typeface="Consolas"/>
                <a:cs typeface="Consolas"/>
                <a:sym typeface="Consolas"/>
              </a:rPr>
              <a:t>2.5e-6 (ep 32–34)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6812280" y="409651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~90.3% (early stop)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4709173" y="4407399"/>
            <a:ext cx="388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ReduceLROnPlateau: halve LR every 3 stagnant epochs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9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PyTorch Experiment — test.ipynb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9"/>
          <p:cNvSpPr/>
          <p:nvPr/>
        </p:nvSpPr>
        <p:spPr>
          <a:xfrm>
            <a:off x="274320" y="960120"/>
            <a:ext cx="2743200" cy="388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9"/>
          <p:cNvSpPr/>
          <p:nvPr/>
        </p:nvSpPr>
        <p:spPr>
          <a:xfrm>
            <a:off x="274320" y="960120"/>
            <a:ext cx="2743200" cy="438912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9"/>
          <p:cNvSpPr/>
          <p:nvPr/>
        </p:nvSpPr>
        <p:spPr>
          <a:xfrm>
            <a:off x="365760" y="969264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attrocento San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9"/>
          <p:cNvSpPr/>
          <p:nvPr/>
        </p:nvSpPr>
        <p:spPr>
          <a:xfrm>
            <a:off x="777240" y="1005840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GPU-Cached 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384048" y="1481328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Dataset loaded once onto GPU as .pt tensors, eliminating CPU→GPU overhead per batch. Batch size 512 leverages full GPU bandwidth.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384048" y="2907792"/>
            <a:ext cx="25146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9"/>
          <p:cNvSpPr/>
          <p:nvPr/>
        </p:nvSpPr>
        <p:spPr>
          <a:xfrm>
            <a:off x="457200" y="2944368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C8"/>
                </a:solidFill>
                <a:latin typeface="Consolas"/>
                <a:ea typeface="Consolas"/>
                <a:cs typeface="Consolas"/>
                <a:sym typeface="Consolas"/>
              </a:rPr>
              <a:t>torch.save((images, labels),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C8"/>
                </a:solidFill>
                <a:latin typeface="Consolas"/>
                <a:ea typeface="Consolas"/>
                <a:cs typeface="Consolas"/>
                <a:sym typeface="Consolas"/>
              </a:rPr>
              <a:t>  "cifar10_train_cached.pt")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9"/>
          <p:cNvSpPr/>
          <p:nvPr/>
        </p:nvSpPr>
        <p:spPr>
          <a:xfrm>
            <a:off x="3227832" y="960120"/>
            <a:ext cx="2743200" cy="388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9"/>
          <p:cNvSpPr/>
          <p:nvPr/>
        </p:nvSpPr>
        <p:spPr>
          <a:xfrm>
            <a:off x="3227832" y="960120"/>
            <a:ext cx="274320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9"/>
          <p:cNvSpPr/>
          <p:nvPr/>
        </p:nvSpPr>
        <p:spPr>
          <a:xfrm>
            <a:off x="3319272" y="969264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attrocento San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9"/>
          <p:cNvSpPr/>
          <p:nvPr/>
        </p:nvSpPr>
        <p:spPr>
          <a:xfrm>
            <a:off x="3730752" y="1005840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 CNN (MyCNN)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9"/>
          <p:cNvSpPr/>
          <p:nvPr/>
        </p:nvSpPr>
        <p:spPr>
          <a:xfrm>
            <a:off x="3337560" y="1481328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Compact PyTorch network: 2 conv+pool blocks → flatten (4,096) → Linear(256) → Linear(10). ~600K parameters.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9"/>
          <p:cNvSpPr/>
          <p:nvPr/>
        </p:nvSpPr>
        <p:spPr>
          <a:xfrm>
            <a:off x="3337560" y="2907792"/>
            <a:ext cx="25146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9"/>
          <p:cNvSpPr/>
          <p:nvPr/>
        </p:nvSpPr>
        <p:spPr>
          <a:xfrm>
            <a:off x="3410712" y="2944368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C8"/>
                </a:solidFill>
                <a:latin typeface="Consolas"/>
                <a:ea typeface="Consolas"/>
                <a:cs typeface="Consolas"/>
                <a:sym typeface="Consolas"/>
              </a:rPr>
              <a:t>Conv(3→32) → Pool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C8"/>
                </a:solidFill>
                <a:latin typeface="Consolas"/>
                <a:ea typeface="Consolas"/>
                <a:cs typeface="Consolas"/>
                <a:sym typeface="Consolas"/>
              </a:rPr>
              <a:t>Conv(32→64) → Pool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C8"/>
                </a:solidFill>
                <a:latin typeface="Consolas"/>
                <a:ea typeface="Consolas"/>
                <a:cs typeface="Consolas"/>
                <a:sym typeface="Consolas"/>
              </a:rPr>
              <a:t>Linear(4096→256→10)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9"/>
          <p:cNvSpPr/>
          <p:nvPr/>
        </p:nvSpPr>
        <p:spPr>
          <a:xfrm>
            <a:off x="6181344" y="960120"/>
            <a:ext cx="2743200" cy="388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9"/>
          <p:cNvSpPr/>
          <p:nvPr/>
        </p:nvSpPr>
        <p:spPr>
          <a:xfrm>
            <a:off x="6181344" y="960120"/>
            <a:ext cx="2743200" cy="438912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9"/>
          <p:cNvSpPr/>
          <p:nvPr/>
        </p:nvSpPr>
        <p:spPr>
          <a:xfrm>
            <a:off x="6272784" y="969264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attrocento San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9"/>
          <p:cNvSpPr/>
          <p:nvPr/>
        </p:nvSpPr>
        <p:spPr>
          <a:xfrm>
            <a:off x="6684264" y="1005840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Online Augmentation on GPU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9"/>
          <p:cNvSpPr/>
          <p:nvPr/>
        </p:nvSpPr>
        <p:spPr>
          <a:xfrm>
            <a:off x="6291072" y="1481328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CachedCIFAR class applies random flips and ±15° rotations directly on GPU tensors using torchvision.transforms.functional.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9"/>
          <p:cNvSpPr/>
          <p:nvPr/>
        </p:nvSpPr>
        <p:spPr>
          <a:xfrm>
            <a:off x="6291072" y="2907792"/>
            <a:ext cx="25146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9"/>
          <p:cNvSpPr/>
          <p:nvPr/>
        </p:nvSpPr>
        <p:spPr>
          <a:xfrm>
            <a:off x="6364224" y="2944368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C8"/>
                </a:solidFill>
                <a:latin typeface="Consolas"/>
                <a:ea typeface="Consolas"/>
                <a:cs typeface="Consolas"/>
                <a:sym typeface="Consolas"/>
              </a:rPr>
              <a:t>TF.hflip(image)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C8"/>
                </a:solidFill>
                <a:latin typeface="Consolas"/>
                <a:ea typeface="Consolas"/>
                <a:cs typeface="Consolas"/>
                <a:sym typeface="Consolas"/>
              </a:rPr>
              <a:t>TF.rotate(image, angle)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0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Comparison — All Results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6" name="Google Shape;496;p10"/>
          <p:cNvGraphicFramePr/>
          <p:nvPr/>
        </p:nvGraphicFramePr>
        <p:xfrm>
          <a:off x="274320" y="914400"/>
          <a:ext cx="5669280" cy="39319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97" name="Google Shape;497;p10"/>
          <p:cNvSpPr/>
          <p:nvPr/>
        </p:nvSpPr>
        <p:spPr>
          <a:xfrm>
            <a:off x="6126480" y="914400"/>
            <a:ext cx="274320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0"/>
          <p:cNvSpPr/>
          <p:nvPr/>
        </p:nvSpPr>
        <p:spPr>
          <a:xfrm>
            <a:off x="6126480" y="914400"/>
            <a:ext cx="274320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0"/>
          <p:cNvSpPr/>
          <p:nvPr/>
        </p:nvSpPr>
        <p:spPr>
          <a:xfrm>
            <a:off x="6236208" y="93268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6172200" y="1371600"/>
            <a:ext cx="2651760" cy="493776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0"/>
          <p:cNvSpPr/>
          <p:nvPr/>
        </p:nvSpPr>
        <p:spPr>
          <a:xfrm>
            <a:off x="6309360" y="144475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CNN (scratch)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8001000" y="1444752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64.5%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6172200" y="1938528"/>
            <a:ext cx="26517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0"/>
          <p:cNvSpPr/>
          <p:nvPr/>
        </p:nvSpPr>
        <p:spPr>
          <a:xfrm>
            <a:off x="6309360" y="201168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MobileNetV2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8001000" y="2011680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85.5%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6172200" y="2505456"/>
            <a:ext cx="2651760" cy="493776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0"/>
          <p:cNvSpPr/>
          <p:nvPr/>
        </p:nvSpPr>
        <p:spPr>
          <a:xfrm>
            <a:off x="6309360" y="257860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InceptionV3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8001000" y="2578608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86.4%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6172200" y="3072384"/>
            <a:ext cx="26517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0"/>
          <p:cNvSpPr/>
          <p:nvPr/>
        </p:nvSpPr>
        <p:spPr>
          <a:xfrm>
            <a:off x="6309360" y="314553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ResNet50 Ph.1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8001000" y="3145536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86.8%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0"/>
          <p:cNvSpPr/>
          <p:nvPr/>
        </p:nvSpPr>
        <p:spPr>
          <a:xfrm>
            <a:off x="6172200" y="3639312"/>
            <a:ext cx="2651760" cy="493776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0"/>
          <p:cNvSpPr/>
          <p:nvPr/>
        </p:nvSpPr>
        <p:spPr>
          <a:xfrm>
            <a:off x="6309360" y="371246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ResNet50 Ph.2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0"/>
          <p:cNvSpPr/>
          <p:nvPr/>
        </p:nvSpPr>
        <p:spPr>
          <a:xfrm>
            <a:off x="8001000" y="3712464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89.6%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6172200" y="4206240"/>
            <a:ext cx="2651760" cy="493776"/>
          </a:xfrm>
          <a:prstGeom prst="rect">
            <a:avLst/>
          </a:prstGeom>
          <a:solidFill>
            <a:srgbClr val="F59E0B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0"/>
          <p:cNvSpPr/>
          <p:nvPr/>
        </p:nvSpPr>
        <p:spPr>
          <a:xfrm>
            <a:off x="6172200" y="4206240"/>
            <a:ext cx="64008" cy="4937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0"/>
          <p:cNvSpPr/>
          <p:nvPr/>
        </p:nvSpPr>
        <p:spPr>
          <a:xfrm>
            <a:off x="6309360" y="427939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ResNet50+Aug+LR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0"/>
          <p:cNvSpPr/>
          <p:nvPr/>
        </p:nvSpPr>
        <p:spPr>
          <a:xfrm>
            <a:off x="8001000" y="4279392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90.3%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1"/>
          <p:cNvSpPr/>
          <p:nvPr/>
        </p:nvSpPr>
        <p:spPr>
          <a:xfrm>
            <a:off x="320040" y="960120"/>
            <a:ext cx="4160520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1"/>
          <p:cNvSpPr/>
          <p:nvPr/>
        </p:nvSpPr>
        <p:spPr>
          <a:xfrm>
            <a:off x="320040" y="960120"/>
            <a:ext cx="594360" cy="1874520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1"/>
          <p:cNvSpPr/>
          <p:nvPr/>
        </p:nvSpPr>
        <p:spPr>
          <a:xfrm>
            <a:off x="320040" y="14630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1"/>
          <p:cNvSpPr/>
          <p:nvPr/>
        </p:nvSpPr>
        <p:spPr>
          <a:xfrm>
            <a:off x="1033272" y="1033272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Transfer Learning Far Outperforms Scratch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1"/>
          <p:cNvSpPr/>
          <p:nvPr/>
        </p:nvSpPr>
        <p:spPr>
          <a:xfrm>
            <a:off x="1033272" y="1527048"/>
            <a:ext cx="3337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Even a frozen MobileNetV2 (feature extractor only) reaches 85.5% — a +21 percentage point gain over the custom CNN at 64.5%. Pretrained ImageNet features generalize powerfully to CIFAR-10.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1"/>
          <p:cNvSpPr/>
          <p:nvPr/>
        </p:nvSpPr>
        <p:spPr>
          <a:xfrm>
            <a:off x="4754880" y="960120"/>
            <a:ext cx="4160520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1"/>
          <p:cNvSpPr/>
          <p:nvPr/>
        </p:nvSpPr>
        <p:spPr>
          <a:xfrm>
            <a:off x="4754880" y="960120"/>
            <a:ext cx="594360" cy="18745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1"/>
          <p:cNvSpPr/>
          <p:nvPr/>
        </p:nvSpPr>
        <p:spPr>
          <a:xfrm>
            <a:off x="4754880" y="14630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1"/>
          <p:cNvSpPr/>
          <p:nvPr/>
        </p:nvSpPr>
        <p:spPr>
          <a:xfrm>
            <a:off x="5468112" y="1033272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Two-Phase Fine-Tuning Is Essential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1"/>
          <p:cNvSpPr/>
          <p:nvPr/>
        </p:nvSpPr>
        <p:spPr>
          <a:xfrm>
            <a:off x="5468112" y="1527048"/>
            <a:ext cx="3337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Training the head first (Phase 1), then unfreezing the top layers at LR 1e-5 (Phase 2) is critical. The low LR preserves pretrained representations while adapting to the new task — pushing ResNet50 to 89.6%.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1"/>
          <p:cNvSpPr/>
          <p:nvPr/>
        </p:nvSpPr>
        <p:spPr>
          <a:xfrm>
            <a:off x="320040" y="3017520"/>
            <a:ext cx="4160520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1"/>
          <p:cNvSpPr/>
          <p:nvPr/>
        </p:nvSpPr>
        <p:spPr>
          <a:xfrm>
            <a:off x="320040" y="3017520"/>
            <a:ext cx="594360" cy="1874520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1"/>
          <p:cNvSpPr/>
          <p:nvPr/>
        </p:nvSpPr>
        <p:spPr>
          <a:xfrm>
            <a:off x="320040" y="3520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1"/>
          <p:cNvSpPr/>
          <p:nvPr/>
        </p:nvSpPr>
        <p:spPr>
          <a:xfrm>
            <a:off x="1033272" y="3090672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Input Resolution Matters for Small Images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1"/>
          <p:cNvSpPr/>
          <p:nvPr/>
        </p:nvSpPr>
        <p:spPr>
          <a:xfrm>
            <a:off x="1033272" y="3584448"/>
            <a:ext cx="3337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Resizing CIFAR-10's 32×32 images to 96×96 (ResNet50) vs 224×224 (MobileNetV2/InceptionV3) reduces interpolation distortion and contributes to ResNet50's edge in accuracy.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1"/>
          <p:cNvSpPr/>
          <p:nvPr/>
        </p:nvSpPr>
        <p:spPr>
          <a:xfrm>
            <a:off x="4754880" y="3017520"/>
            <a:ext cx="4160520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1"/>
          <p:cNvSpPr/>
          <p:nvPr/>
        </p:nvSpPr>
        <p:spPr>
          <a:xfrm>
            <a:off x="4754880" y="3017520"/>
            <a:ext cx="594360" cy="1874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1"/>
          <p:cNvSpPr/>
          <p:nvPr/>
        </p:nvSpPr>
        <p:spPr>
          <a:xfrm>
            <a:off x="4754880" y="3520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1"/>
          <p:cNvSpPr/>
          <p:nvPr/>
        </p:nvSpPr>
        <p:spPr>
          <a:xfrm>
            <a:off x="5468112" y="3090672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Augmentation + LR Scheduler Achieves Best Result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1"/>
          <p:cNvSpPr/>
          <p:nvPr/>
        </p:nvSpPr>
        <p:spPr>
          <a:xfrm>
            <a:off x="5468112" y="3584448"/>
            <a:ext cx="3337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redesigned augmentation notebook (6 techniques, Phase 1 on clean data, Phase 2 with ReduceLROnPlateau) achieves 90.3% — breaking through the 89.6% ceiling by halving LR at plateaus.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2"/>
          <p:cNvSpPr/>
          <p:nvPr/>
        </p:nvSpPr>
        <p:spPr>
          <a:xfrm>
            <a:off x="7132320" y="109728"/>
            <a:ext cx="2011680" cy="1828800"/>
          </a:xfrm>
          <a:prstGeom prst="rect">
            <a:avLst/>
          </a:prstGeom>
          <a:solidFill>
            <a:srgbClr val="0D8A8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2"/>
          <p:cNvSpPr/>
          <p:nvPr/>
        </p:nvSpPr>
        <p:spPr>
          <a:xfrm>
            <a:off x="457200" y="45720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2"/>
          <p:cNvSpPr/>
          <p:nvPr/>
        </p:nvSpPr>
        <p:spPr>
          <a:xfrm>
            <a:off x="457200" y="1371600"/>
            <a:ext cx="1920240" cy="100584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9050">
            <a:solidFill>
              <a:srgbClr val="0D8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2"/>
          <p:cNvSpPr/>
          <p:nvPr/>
        </p:nvSpPr>
        <p:spPr>
          <a:xfrm>
            <a:off x="457200" y="14173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64.5%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2"/>
          <p:cNvSpPr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Baseline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2"/>
          <p:cNvSpPr/>
          <p:nvPr/>
        </p:nvSpPr>
        <p:spPr>
          <a:xfrm>
            <a:off x="2606040" y="1371600"/>
            <a:ext cx="1920240" cy="100584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9050">
            <a:solidFill>
              <a:srgbClr val="0D8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2"/>
          <p:cNvSpPr/>
          <p:nvPr/>
        </p:nvSpPr>
        <p:spPr>
          <a:xfrm>
            <a:off x="2606040" y="14173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90.3%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2"/>
          <p:cNvSpPr/>
          <p:nvPr/>
        </p:nvSpPr>
        <p:spPr>
          <a:xfrm>
            <a:off x="2606040" y="19202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Best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2"/>
          <p:cNvSpPr/>
          <p:nvPr/>
        </p:nvSpPr>
        <p:spPr>
          <a:xfrm>
            <a:off x="4754880" y="1371600"/>
            <a:ext cx="1920240" cy="100584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9050">
            <a:solidFill>
              <a:srgbClr val="0D8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2"/>
          <p:cNvSpPr/>
          <p:nvPr/>
        </p:nvSpPr>
        <p:spPr>
          <a:xfrm>
            <a:off x="4754880" y="14173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+25.8pp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2"/>
          <p:cNvSpPr/>
          <p:nvPr/>
        </p:nvSpPr>
        <p:spPr>
          <a:xfrm>
            <a:off x="4754880" y="19202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Improvement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2"/>
          <p:cNvSpPr/>
          <p:nvPr/>
        </p:nvSpPr>
        <p:spPr>
          <a:xfrm>
            <a:off x="6903720" y="1371600"/>
            <a:ext cx="1920240" cy="100584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9050">
            <a:solidFill>
              <a:srgbClr val="0D8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2"/>
          <p:cNvSpPr/>
          <p:nvPr/>
        </p:nvSpPr>
        <p:spPr>
          <a:xfrm>
            <a:off x="6903720" y="14173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Models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2"/>
          <p:cNvSpPr/>
          <p:nvPr/>
        </p:nvSpPr>
        <p:spPr>
          <a:xfrm>
            <a:off x="6903720" y="19202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Compared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2"/>
          <p:cNvSpPr/>
          <p:nvPr/>
        </p:nvSpPr>
        <p:spPr>
          <a:xfrm>
            <a:off x="457200" y="26060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8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8A82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Transfer learning delivers massive gains with minimal compute — even frozen backbones beat custom CNNs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2"/>
          <p:cNvSpPr/>
          <p:nvPr/>
        </p:nvSpPr>
        <p:spPr>
          <a:xfrm>
            <a:off x="457200" y="315468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8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8A82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Two-phase fine-tuning (head → selective unfreeze at low LR) is the most effective training strategy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2"/>
          <p:cNvSpPr/>
          <p:nvPr/>
        </p:nvSpPr>
        <p:spPr>
          <a:xfrm>
            <a:off x="457200" y="370332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8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8A82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Data augmentation applied in the correct order + LR scheduling pushes ResNet50 to 90.3% on CIFAR-10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2"/>
          <p:cNvSpPr/>
          <p:nvPr/>
        </p:nvSpPr>
        <p:spPr>
          <a:xfrm>
            <a:off x="457200" y="425196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8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8A82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GPU-cached PyTorch pipeline offers a fast experimentation alternative to TensorFlow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0D8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2026-03-27T13:57:14Z</dcterms:created>
  <dc:creator>Ekaterina</dc:creator>
</cp:coreProperties>
</file>